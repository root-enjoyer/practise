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Montserrat Black" panose="020B0604020202020204" charset="-52"/>
      <p:regular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Inconsolata" panose="020B0604020202020204" charset="0"/>
      <p:regular r:id="rId1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EC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57" autoAdjust="0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76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977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40602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Майбутнє штучного інтелекту: виклики, можливості та роль України</a:t>
            </a:r>
            <a:endParaRPr lang="en-US" sz="445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2675476" y="7798676"/>
            <a:ext cx="1954924" cy="430924"/>
          </a:xfrm>
          <a:prstGeom prst="rect">
            <a:avLst/>
          </a:prstGeom>
          <a:solidFill>
            <a:srgbClr val="F8ECE4"/>
          </a:solidFill>
          <a:ln>
            <a:solidFill>
              <a:srgbClr val="F8EC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02130"/>
            <a:ext cx="96851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ШІ: революція, що змінює світ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64537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530906" y="3042404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Незворотний прогрес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30906" y="3887153"/>
            <a:ext cx="3421499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До 2027 року очікується створення Загального штучного інтелекту (AGI), здатного виконувати всі інтелектуальні завдання людини, відкриваючи нову еру технологічного розвитку.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35893" y="2964537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73008" y="30424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Радикальні зміни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73008" y="3532823"/>
            <a:ext cx="342149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AI Futures Project прогнозує, що ШІ перевершить людський інтелект, що може радикально змінити суспільство, економіку та повсякденне життя.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77995" y="2964537"/>
            <a:ext cx="510302" cy="510302"/>
          </a:xfrm>
          <a:prstGeom prst="roundRect">
            <a:avLst>
              <a:gd name="adj" fmla="val 1792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415111" y="3042404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Автоматизація та виклики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5111" y="3887153"/>
            <a:ext cx="342149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Вже зараз ШІ автоматизує сотні тисяч робочих місць у різних галузях, створюючи нові виклики для економіки та ринку праці.</a:t>
            </a:r>
            <a:endParaRPr lang="en-US" sz="175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12675476" y="7798676"/>
            <a:ext cx="1954924" cy="430924"/>
          </a:xfrm>
          <a:prstGeom prst="rect">
            <a:avLst/>
          </a:prstGeom>
          <a:solidFill>
            <a:srgbClr val="F8ECE4"/>
          </a:solidFill>
          <a:ln>
            <a:solidFill>
              <a:srgbClr val="F8EC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3425" y="663654"/>
            <a:ext cx="13163550" cy="1309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Прогноз AI2027: від прориву до потенційної загрози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303770" y="2392442"/>
            <a:ext cx="22860" cy="5173385"/>
          </a:xfrm>
          <a:prstGeom prst="roundRect">
            <a:avLst>
              <a:gd name="adj" fmla="val 40000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73666" y="2616756"/>
            <a:ext cx="628650" cy="22860"/>
          </a:xfrm>
          <a:prstGeom prst="roundRect">
            <a:avLst>
              <a:gd name="adj" fmla="val 40000"/>
            </a:avLst>
          </a:prstGeom>
          <a:solidFill>
            <a:srgbClr val="151617"/>
          </a:solidFill>
          <a:ln/>
        </p:spPr>
      </p:sp>
      <p:sp>
        <p:nvSpPr>
          <p:cNvPr id="5" name="Shape 3"/>
          <p:cNvSpPr/>
          <p:nvPr/>
        </p:nvSpPr>
        <p:spPr>
          <a:xfrm>
            <a:off x="7079456" y="2392442"/>
            <a:ext cx="471488" cy="471488"/>
          </a:xfrm>
          <a:prstGeom prst="roundRect">
            <a:avLst>
              <a:gd name="adj" fmla="val 1939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58038" y="2431733"/>
            <a:ext cx="314325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2382798" y="2464475"/>
            <a:ext cx="3884652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2025: Просунуті ШІ-агенти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733425" y="2917627"/>
            <a:ext cx="553402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Запуск автономних ШІ-агентів, здатних самостійно виконувати складні завдання, що значно підвищує ефективність у багатьох сферах.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528084" y="3874056"/>
            <a:ext cx="628650" cy="22860"/>
          </a:xfrm>
          <a:prstGeom prst="roundRect">
            <a:avLst>
              <a:gd name="adj" fmla="val 40000"/>
            </a:avLst>
          </a:prstGeom>
          <a:solidFill>
            <a:srgbClr val="151617"/>
          </a:solidFill>
          <a:ln/>
        </p:spPr>
      </p:sp>
      <p:sp>
        <p:nvSpPr>
          <p:cNvPr id="10" name="Shape 8"/>
          <p:cNvSpPr/>
          <p:nvPr/>
        </p:nvSpPr>
        <p:spPr>
          <a:xfrm>
            <a:off x="7079456" y="3649742"/>
            <a:ext cx="471488" cy="471488"/>
          </a:xfrm>
          <a:prstGeom prst="roundRect">
            <a:avLst>
              <a:gd name="adj" fmla="val 1939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58038" y="3689032"/>
            <a:ext cx="314325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2450" dirty="0"/>
          </a:p>
        </p:txBody>
      </p:sp>
      <p:sp>
        <p:nvSpPr>
          <p:cNvPr id="12" name="Text 10"/>
          <p:cNvSpPr/>
          <p:nvPr/>
        </p:nvSpPr>
        <p:spPr>
          <a:xfrm>
            <a:off x="8362950" y="3721775"/>
            <a:ext cx="297751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2027: Створення AGI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8362950" y="4174927"/>
            <a:ext cx="553402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OpenBrain оголошує про створення AGI, що самовдосконалюється без прямого людського контролю, що є значним кроком у розвитку ШІ.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473666" y="4957763"/>
            <a:ext cx="628650" cy="22860"/>
          </a:xfrm>
          <a:prstGeom prst="roundRect">
            <a:avLst>
              <a:gd name="adj" fmla="val 40000"/>
            </a:avLst>
          </a:prstGeom>
          <a:solidFill>
            <a:srgbClr val="151617"/>
          </a:solidFill>
          <a:ln/>
        </p:spPr>
      </p:sp>
      <p:sp>
        <p:nvSpPr>
          <p:cNvPr id="15" name="Shape 13"/>
          <p:cNvSpPr/>
          <p:nvPr/>
        </p:nvSpPr>
        <p:spPr>
          <a:xfrm>
            <a:off x="7079456" y="4733449"/>
            <a:ext cx="471488" cy="471488"/>
          </a:xfrm>
          <a:prstGeom prst="roundRect">
            <a:avLst>
              <a:gd name="adj" fmla="val 1939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58038" y="4772739"/>
            <a:ext cx="314325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2450" dirty="0"/>
          </a:p>
        </p:txBody>
      </p:sp>
      <p:sp>
        <p:nvSpPr>
          <p:cNvPr id="17" name="Text 15"/>
          <p:cNvSpPr/>
          <p:nvPr/>
        </p:nvSpPr>
        <p:spPr>
          <a:xfrm>
            <a:off x="1454110" y="4805482"/>
            <a:ext cx="4813340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2029: Геополітичне суперництво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733425" y="5258633"/>
            <a:ext cx="553402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Загострення суперництва між США та Китаєм у сфері ШІ, що посилює ризики розробки автономної зброї та глобальної нестабільності.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528084" y="6041588"/>
            <a:ext cx="628650" cy="22860"/>
          </a:xfrm>
          <a:prstGeom prst="roundRect">
            <a:avLst>
              <a:gd name="adj" fmla="val 40000"/>
            </a:avLst>
          </a:prstGeom>
          <a:solidFill>
            <a:srgbClr val="151617"/>
          </a:solidFill>
          <a:ln/>
        </p:spPr>
      </p:sp>
      <p:sp>
        <p:nvSpPr>
          <p:cNvPr id="20" name="Shape 18"/>
          <p:cNvSpPr/>
          <p:nvPr/>
        </p:nvSpPr>
        <p:spPr>
          <a:xfrm>
            <a:off x="7079456" y="5817275"/>
            <a:ext cx="471488" cy="471488"/>
          </a:xfrm>
          <a:prstGeom prst="roundRect">
            <a:avLst>
              <a:gd name="adj" fmla="val 1939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1905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58038" y="5856565"/>
            <a:ext cx="314325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2450" dirty="0"/>
          </a:p>
        </p:txBody>
      </p:sp>
      <p:sp>
        <p:nvSpPr>
          <p:cNvPr id="22" name="Text 20"/>
          <p:cNvSpPr/>
          <p:nvPr/>
        </p:nvSpPr>
        <p:spPr>
          <a:xfrm>
            <a:off x="8362950" y="5889308"/>
            <a:ext cx="4042053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2030-ті: Потенційні загрози</a:t>
            </a:r>
            <a:endParaRPr lang="en-US" sz="2050" dirty="0"/>
          </a:p>
        </p:txBody>
      </p:sp>
      <p:sp>
        <p:nvSpPr>
          <p:cNvPr id="23" name="Text 21"/>
          <p:cNvSpPr/>
          <p:nvPr/>
        </p:nvSpPr>
        <p:spPr>
          <a:xfrm>
            <a:off x="8362950" y="6342459"/>
            <a:ext cx="553402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Десятиліття може принести потенційну загрозу для людства через неконтрольоване зростання та непередбачувану поведінку ШІ.</a:t>
            </a:r>
            <a:endParaRPr lang="en-US" sz="1650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12675476" y="7798676"/>
            <a:ext cx="1954924" cy="430924"/>
          </a:xfrm>
          <a:prstGeom prst="rect">
            <a:avLst/>
          </a:prstGeom>
          <a:solidFill>
            <a:srgbClr val="F8ECE4"/>
          </a:solidFill>
          <a:ln>
            <a:solidFill>
              <a:srgbClr val="F8EC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844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Україна на ШІ-мапі світу: сильні сторони та виклики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829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Сильні сторони: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64123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97% відкритих даних для навчання ШІ – один з найвищих показників у світі, що створює сприятливе середовище для розвитку ШІ-проектів.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99502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Зростання кількості освітніх програм із ШІ, що забезпечує підготовку висококваліфікованих кадрів для індустрії.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6163032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Запуск WINWIN AI Center of Excellence, який стає регіональним хабом для тестування та впровадження інноваційних ШІ-рішень.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28829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Виклики: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3464123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Потреба у комплексному правовому регулюванні, яке б відповідало швидкозмінним технологіям ШІ та захищало інтереси суспільства.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632127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Недостатнє державне фінансування, що обмежує можливості для масштабних досліджень та розробок у сфері ШІ.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80013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Необхідність залучення інвестицій для підтримки стартапів та розвитку інфраструктури ШІ.</a:t>
            </a:r>
            <a:endParaRPr lang="en-US" sz="175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12675476" y="7798676"/>
            <a:ext cx="1954924" cy="430924"/>
          </a:xfrm>
          <a:prstGeom prst="rect">
            <a:avLst/>
          </a:prstGeom>
          <a:solidFill>
            <a:srgbClr val="F8ECE4"/>
          </a:solidFill>
          <a:ln>
            <a:solidFill>
              <a:srgbClr val="F8EC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6475"/>
            <a:ext cx="125795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ШІ у кібербезпеці та загрози 2025 року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1142524" y="2746177"/>
            <a:ext cx="42118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Зростання ШІ-шахрайства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236595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Використання генеративного ШІ для створення діпфейків, фішингових атак та складних схем соціальної інженерії.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777282" y="2746177"/>
            <a:ext cx="33857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Обхід автентифікації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236595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ШІ-системи можуть бути використані для обходу багатофакторної автентифікації та злому корпоративних мереж.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142524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Витік даних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557123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Ризики витоку конфіденційних даних через навчання ШІ-моделей на приватній інформації без належного захисту.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777282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ШІ як захист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557123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Водночас ШІ відіграє ключову роль у виявленні кіберзагроз, аналізі аномалій та захисті мереж, будучи двосічним мечем.</a:t>
            </a:r>
            <a:endParaRPr lang="en-US" sz="1750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12675476" y="7798676"/>
            <a:ext cx="1954924" cy="430924"/>
          </a:xfrm>
          <a:prstGeom prst="rect">
            <a:avLst/>
          </a:prstGeom>
          <a:solidFill>
            <a:srgbClr val="F8ECE4"/>
          </a:solidFill>
          <a:ln>
            <a:solidFill>
              <a:srgbClr val="F8EC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855" y="585192"/>
            <a:ext cx="13140690" cy="1330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Майбутнє України з ШІ: прогноз від штучного інтелекту</a:t>
            </a:r>
            <a:endParaRPr lang="en-US" sz="4150" dirty="0"/>
          </a:p>
        </p:txBody>
      </p:sp>
      <p:sp>
        <p:nvSpPr>
          <p:cNvPr id="4" name="Text 2"/>
          <p:cNvSpPr/>
          <p:nvPr/>
        </p:nvSpPr>
        <p:spPr>
          <a:xfrm>
            <a:off x="3817144" y="2460665"/>
            <a:ext cx="319207" cy="398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57620" y="3192185"/>
            <a:ext cx="3650218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Перспективний гравець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957620" y="3652242"/>
            <a:ext cx="6038374" cy="1021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ШІ бачить Україну як ключового гравця у цифровій економіці та оборонних технологіях завдяки інноваційному потенціалу.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493931" y="2460665"/>
            <a:ext cx="319207" cy="398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7634288" y="3192185"/>
            <a:ext cx="4263509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Розвиток ключових галузей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7634288" y="3652242"/>
            <a:ext cx="6038493" cy="1021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Прогнозується інтенсивний розвиток агротехнологій, медичних інновацій та оборонних рішень на базі передових ШІ-розробок.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817144" y="5218986"/>
            <a:ext cx="319207" cy="398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957620" y="5950506"/>
            <a:ext cx="2826425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Міжнародні ринки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957620" y="6410563"/>
            <a:ext cx="6038374" cy="1021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Українські стартапи вже успішно виходять на світові ринки, створюючи нові робочі місця та зміцнюючи економіку.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493931" y="5218986"/>
            <a:ext cx="319207" cy="398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634288" y="5950506"/>
            <a:ext cx="3324344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Державне управління</a:t>
            </a:r>
            <a:endParaRPr lang="en-US" sz="2050" dirty="0"/>
          </a:p>
        </p:txBody>
      </p:sp>
      <p:sp>
        <p:nvSpPr>
          <p:cNvPr id="18" name="Text 16"/>
          <p:cNvSpPr/>
          <p:nvPr/>
        </p:nvSpPr>
        <p:spPr>
          <a:xfrm>
            <a:off x="7634288" y="6410563"/>
            <a:ext cx="6038493" cy="1021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Інтеграція ШІ у державне управління є критично важливою для підвищення ефективності, прозорості та якості послуг.</a:t>
            </a:r>
            <a:endParaRPr lang="en-US" sz="1650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12675476" y="7798676"/>
            <a:ext cx="1954924" cy="430924"/>
          </a:xfrm>
          <a:prstGeom prst="rect">
            <a:avLst/>
          </a:prstGeom>
          <a:solidFill>
            <a:srgbClr val="F8ECE4"/>
          </a:solidFill>
          <a:ln>
            <a:solidFill>
              <a:srgbClr val="F8EC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7462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Висновок: ШІ – виклик і шанс для людства та України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33951" y="277379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Штучний інтелект змінить світ так само масштабно, як промислова революція. Від нас залежить, чи стане ШІ інструментом розвитку чи загрозою.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00990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Україна має унікальний потенціал стати лідером у глобальній ШІ-екосистемі. Для цього необхідно: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62795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Інвестувати в освіту: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Розвивати навчальні програми та дослідницькі центри для підготовки нового покоління фахівців з ШІ.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43306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Створити регуляторні рамки: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Розробити етичні та правові норми для безпечного та відповідального впровадження ШІ.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23816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Підтримувати інновації:</a:t>
            </a: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Фінансувати стартапи та заохочувати розробку нових ШІ-рішень, що відповідають потребам суспільства.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721911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Сформуємо безпечне і прогресивне майбутнє разом з ШІ.</a:t>
            </a:r>
            <a:endParaRPr lang="en-US" sz="175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2675476" y="7798676"/>
            <a:ext cx="1954924" cy="430924"/>
          </a:xfrm>
          <a:prstGeom prst="rect">
            <a:avLst/>
          </a:prstGeom>
          <a:solidFill>
            <a:srgbClr val="F8ECE4"/>
          </a:solidFill>
          <a:ln>
            <a:solidFill>
              <a:srgbClr val="F8EC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586</Words>
  <Application>Microsoft Office PowerPoint</Application>
  <PresentationFormat>Произвольный</PresentationFormat>
  <Paragraphs>66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Montserrat Black</vt:lpstr>
      <vt:lpstr>Calibri</vt:lpstr>
      <vt:lpstr>Arial</vt:lpstr>
      <vt:lpstr>Inconsolata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Artem</dc:creator>
  <cp:lastModifiedBy>Artem</cp:lastModifiedBy>
  <cp:revision>3</cp:revision>
  <dcterms:created xsi:type="dcterms:W3CDTF">2026-01-22T19:30:45Z</dcterms:created>
  <dcterms:modified xsi:type="dcterms:W3CDTF">2026-01-22T19:35:10Z</dcterms:modified>
</cp:coreProperties>
</file>